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5195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6304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2743200"/>
            <a:ext cx="8503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Shootlink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29000"/>
            <a:ext cx="8503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Galeri Profesional. Alur Kerja Terstruktur. Klien Puas.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023360"/>
            <a:ext cx="210312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297680"/>
            <a:ext cx="8503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Tim Shootlink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8503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0A0D0"/>
                </a:solidFill>
                <a:latin typeface="Calibri"/>
              </a:defRPr>
            </a:pPr>
            <a:r>
              <a:t>Platform SaaS Galeri Klien &amp; Proofing Fotografi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Calibri"/>
              </a:defRPr>
            </a:pPr>
            <a:r>
              <a:t>Shootlink •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51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65195E"/>
                </a:solidFill>
                <a:latin typeface="Calibri"/>
              </a:defRPr>
            </a:pPr>
            <a:r>
              <a:t>Masalah &amp; Solusi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C3333"/>
                </a:solidFill>
                <a:latin typeface="Calibri"/>
              </a:defRPr>
            </a:pPr>
            <a:r>
              <a:t>Sebelum: Tantangan Fotografer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Review foto campur aduk via WhatsApp &amp; Google Drive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Tidak ada alur kurasi terstruktur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Klien bingung foto mana yang sudah dipilih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Branding lemah — link drive biasa tanpa watermark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Pendapatan hanya dari jasa shooting saja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9669"/>
                </a:solidFill>
                <a:latin typeface="Calibri"/>
              </a:defRPr>
            </a:pPr>
            <a:r>
              <a:t>Sesudah: Shootlink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Galeri klien profesional via link unik per proyek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Alur kurasi 6 tahap dari Persiapan hingga Selesai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Pilih favorit, komentar, approve/reject foto langsung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Watermark otomatis proteksi hak cipta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Recurring revenue via subscription bulanan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Calibri"/>
              </a:defRPr>
            </a:pPr>
            <a:r>
              <a:t>Shootlink •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51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65195E"/>
                </a:solidFill>
                <a:latin typeface="Calibri"/>
              </a:defRPr>
            </a:pPr>
            <a:r>
              <a:t>Arsitektur &amp; RBAC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Dual-Role Access Control dengan Row Level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3200400" cy="365760"/>
          </a:xfrm>
          <a:prstGeom prst="roundRect">
            <a:avLst/>
          </a:prstGeom>
          <a:solidFill>
            <a:srgbClr val="651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Role: Fotografer (Owner)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CRUD proyek &amp; upload foto massal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Atur progress pipeline 6 tahap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Approve / reject hasil kurasi klien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Watermark &amp; download ZIP semua foto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Undang klien via email invite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55448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0" y="1828800"/>
            <a:ext cx="3200400" cy="3657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Role: Klien (Client)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37744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Akses galeri via link unik (slug)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Pilih foto favorit tinggalkan komentar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Selesai kurasi — konfirmasi final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Download ZIP foto approved saja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Pantau progress proyek real-time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52160"/>
            <a:ext cx="10698480" cy="365760"/>
          </a:xfrm>
          <a:prstGeom prst="roundRect">
            <a:avLst/>
          </a:prstGeom>
          <a:solidFill>
            <a:srgbClr val="651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RLS (Row Level Security) di Supabase enforce akses per role  |  Hard redirect via window.location.href untuk keamanan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Calibri"/>
              </a:defRPr>
            </a:pPr>
            <a:r>
              <a:t>Shootlink •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51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65195E"/>
                </a:solidFill>
                <a:latin typeface="Calibri"/>
              </a:defRPr>
            </a:pPr>
            <a:r>
              <a:t>Manajemen Proyek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Dashboard, Pipeline, dan Organisasi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1783080"/>
            <a:ext cx="320040" cy="320040"/>
          </a:xfrm>
          <a:prstGeom prst="rect">
            <a:avLst/>
          </a:prstGeom>
          <a:solidFill>
            <a:srgbClr val="651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37360"/>
            <a:ext cx="4297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5195E"/>
                </a:solidFill>
                <a:latin typeface="Calibri"/>
              </a:defRPr>
            </a:pPr>
            <a:r>
              <a:t>Dashboard Analitik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03120"/>
            <a:ext cx="42976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Total proyek, proyek aktif, total foto, foto favorit — update real-time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0" y="1783080"/>
            <a:ext cx="320040" cy="320040"/>
          </a:xfrm>
          <a:prstGeom prst="rect">
            <a:avLst/>
          </a:prstGeom>
          <a:solidFill>
            <a:srgbClr val="651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737360"/>
            <a:ext cx="4297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5195E"/>
                </a:solidFill>
                <a:latin typeface="Calibri"/>
              </a:defRPr>
            </a:pPr>
            <a:r>
              <a:t>Pipeline 6 Tahap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103120"/>
            <a:ext cx="42976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Persiapan → Uploading → Proses Edit → Menunggu Review → Tahap Kurasi Klien → Selesai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" y="3886200"/>
            <a:ext cx="320040" cy="320040"/>
          </a:xfrm>
          <a:prstGeom prst="rect">
            <a:avLst/>
          </a:prstGeom>
          <a:solidFill>
            <a:srgbClr val="651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840480"/>
            <a:ext cx="4297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5195E"/>
                </a:solidFill>
                <a:latin typeface="Calibri"/>
              </a:defRPr>
            </a:pPr>
            <a:r>
              <a:t>Grid &amp; Table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206240"/>
            <a:ext cx="42976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Tampilan card atau tabel, filter tab per status, search real-time, sort by name/date/status/progress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65760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3886200"/>
            <a:ext cx="320040" cy="320040"/>
          </a:xfrm>
          <a:prstGeom prst="rect">
            <a:avLst/>
          </a:prstGeom>
          <a:solidFill>
            <a:srgbClr val="651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840480"/>
            <a:ext cx="4297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5195E"/>
                </a:solidFill>
                <a:latin typeface="Calibri"/>
              </a:defRPr>
            </a:pPr>
            <a:r>
              <a:t>Buat / Edit / Hapus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206240"/>
            <a:ext cx="42976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Modal create project dengan jenis acara, edit detail inline, hapus dengan cascade ke storage &amp; relasi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Calibri"/>
              </a:defRPr>
            </a:pPr>
            <a:r>
              <a:t>Shootlink •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51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65195E"/>
                </a:solidFill>
                <a:latin typeface="Calibri"/>
              </a:defRPr>
            </a:pPr>
            <a:r>
              <a:t>Galeri &amp; Workflow Kurasi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Upload, filter, approve/reject, finalisasi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5195E"/>
                </a:solidFill>
                <a:latin typeface="Calibri"/>
              </a:defRPr>
            </a:pPr>
            <a:r>
              <a:t>Upload &amp; Galeri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Upload multi-file drag &amp; drop — validasi client-side (JPEG, PNG, WebP, AVIF, max 20MB)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Upload queue sequential dengan status: waiting / uploading / success / error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Token refresh per file — aman untuk upload puluhan foto sekaligus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4 filter tab: Semua / Pilihan Klien / Disetujui / Ditolak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Lightbox detail modal + navigasi prev/next + panel komentar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9669"/>
                </a:solidFill>
                <a:latin typeface="Calibri"/>
              </a:defRPr>
            </a:pPr>
            <a:r>
              <a:t>Approval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Setiap foto punya status: pending / approved / rejected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Fotografer approve/reject individual via RPC update_photo_status()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Tombol "Selesai Kurasi" — finalisasi massal via RPC finalize_curation()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Semua pending → approved, progress status → Selesai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Audit trail lengkap: siapa approve/reject &amp; kapan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Calibri"/>
              </a:defRPr>
            </a:pPr>
            <a:r>
              <a:t>Shootlink •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51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65195E"/>
                </a:solidFill>
                <a:latin typeface="Calibri"/>
              </a:defRPr>
            </a:pPr>
            <a:r>
              <a:t>Fitur Kolaborasi Lanjutan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Komentar real-time, watermark proteksi, download ZIP batch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5204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783080"/>
            <a:ext cx="3063240" cy="36576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Komentar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Thread komentar per foto — real-time via Supabase Realtime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RLS ketat: hanya owner &amp; assigned client yang bisa baca/tulis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Penulis komentar atau owner proyek bisa hapus komentar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Badge jumlah komentar di PhotoCard + panel di detail modal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54480"/>
            <a:ext cx="35204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54880" y="1783080"/>
            <a:ext cx="3063240" cy="365760"/>
          </a:xfrm>
          <a:prstGeom prst="roundRect">
            <a:avLst/>
          </a:prstGeom>
          <a:solidFill>
            <a:srgbClr val="651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Watermark Otomatis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33172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Upload logo watermark sekali — terapkan ke semua foto galeri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9 posisi: top/center/bottom + left/center/right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Slider opasitas (10%-100%) &amp; ukuran (5%-50%)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Overlay client-side via Canvas — tidak merusak file original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54480"/>
            <a:ext cx="35204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49640" y="1783080"/>
            <a:ext cx="3063240" cy="3657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Download ZIP Batch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33172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Owner: download semua foto dalam 1 file ZIP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Client: download hanya foto berstatus "approved"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Streaming via archiver — memory efficient, tanpa file temp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Nama file: {nama-proyek}-foto.zip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Calibri"/>
              </a:defRPr>
            </a:pPr>
            <a:r>
              <a:t>Shootlink •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51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65195E"/>
                </a:solidFill>
                <a:latin typeface="Calibri"/>
              </a:defRPr>
            </a:pPr>
            <a:r>
              <a:t>Client Experience &amp; Invite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Dari undangan hingga finalisasi — semua dalam 1 link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5195E"/>
                </a:solidFill>
                <a:latin typeface="Calibri"/>
              </a:defRPr>
            </a:pPr>
            <a:r>
              <a:t>Flow Undangan Klien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1. Fotografer klik "Undang Klien" di toolbar galeri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2. Masukkan email klien → insert ke tabel project_clients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3. Klien terima email invite dengan link akses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4. Klien signup/login → accepted_at terisi → akses granted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5. RLS enforce: hanya assigned client bisa lihat proyek itu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7C3AED"/>
                </a:solidFill>
                <a:latin typeface="Calibri"/>
              </a:defRPr>
            </a:pPr>
            <a:r>
              <a:t>Pengalaman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Akses galeri via URL: domain.com/{unique-slug}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Favoritkan foto yang disukai (toggle real-time)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Tinggalkan komentar per foto untuk revisi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Filter: Semua / Pilihan Saya / Disetujui / Ditolak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Klik "Selesai Kurasi" → finalisasi pilihan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 Download ZIP foto yang sudah disetujui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Calibri"/>
              </a:defRPr>
            </a:pPr>
            <a:r>
              <a:t>Shootlink •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51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65195E"/>
                </a:solidFill>
                <a:latin typeface="Calibri"/>
              </a:defRPr>
            </a:pPr>
            <a:r>
              <a:t>Monetisasi &amp; Subscription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3 tier pricing dengan Stripe Checkout + plan limits otomatis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5204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971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65195E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2971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1A1A"/>
                </a:solidFill>
                <a:latin typeface="Calibri"/>
              </a:defRPr>
            </a:pPr>
            <a:r>
              <a:t>Gratis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56075520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3 proyek aktif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756075520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100 foto per proyek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756075520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Gallery client standar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756075520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Progress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756075520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Bagikan tautan galeri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463040"/>
            <a:ext cx="35204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19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74920" y="1325880"/>
            <a:ext cx="2423160" cy="320040"/>
          </a:xfrm>
          <a:prstGeom prst="roundRect">
            <a:avLst/>
          </a:prstGeom>
          <a:solidFill>
            <a:srgbClr val="651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  Terpopuler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737360"/>
            <a:ext cx="2971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65195E"/>
                </a:solidFill>
                <a:latin typeface="Calibri"/>
              </a:defRPr>
            </a:pPr>
            <a:r>
              <a:t>Basic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148840"/>
            <a:ext cx="2971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1A1A"/>
                </a:solidFill>
                <a:latin typeface="Calibri"/>
              </a:defRPr>
            </a:pPr>
            <a:r>
              <a:t>Rp199.000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514600"/>
            <a:ext cx="2971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/bulan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6756075520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20 proyek aktif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6756075520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500 foto per proyek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6756075520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Gallery client + kurasi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6756075520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Undang klien via 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6756075520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Prioritas support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1463040"/>
            <a:ext cx="35204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1737360"/>
            <a:ext cx="2971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65195E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148840"/>
            <a:ext cx="2971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1A1A"/>
                </a:solidFill>
                <a:latin typeface="Calibri"/>
              </a:defRPr>
            </a:pPr>
            <a:r>
              <a:t>Rp499.000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514600"/>
            <a:ext cx="2971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/bulan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6756075520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Proyek tak terbatas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6756075520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Foto tak terbatas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6756075520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Gallery client + kurasi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6756075520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Custom branding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6756075520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Prioritas support 24/7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126480"/>
            <a:ext cx="10698480" cy="320040"/>
          </a:xfrm>
          <a:prstGeom prst="roundRect">
            <a:avLst/>
          </a:prstGeom>
          <a:solidFill>
            <a:srgbClr val="651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6126480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Stripe Checkout Session  |  Webhook update subscription  |  Plan limits via DB function check_project_limit()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Calibri"/>
              </a:defRPr>
            </a:pPr>
            <a:r>
              <a:t>Shootlink • 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51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65195E"/>
                </a:solidFill>
                <a:latin typeface="Calibri"/>
              </a:defRPr>
            </a:pPr>
            <a:r>
              <a:t>Teknologi &amp; Kualitas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Stack modern, testing ketat, siap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5195E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Frontend: Next.js 15 (App Router) + React 19 + TypeScript (strict)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Styling: Tailwind CSS + RemixIcon (CDN icons)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Database: Supabase PostgreSQL + RLS (Row Level Security)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Auth: Supabase Auth (Email/Password + Magic Link)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Storage: Supabase Storage bucket photos + avatars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Realtime: Supabase Realtime untuk update progress &amp; komentar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Billing: Stripe Checkout Session + Webhook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9669"/>
                </a:solidFill>
                <a:latin typeface="Calibri"/>
              </a:defRPr>
            </a:pPr>
            <a:r>
              <a:t>Testing &amp;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Playwright E2E: 62 test cases (Chromium + Mobile Chrome)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Pass rate: 96.8% (60/62 passing)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Cakupan: Auth, RBAC, Project CRUD, Gallery, Upload, Approval, Comments, Watermark, ZIP, Delete, Invite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Build production: npm run build sukses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Keamanan: function search_path fixed, public execute revoked, storage bucket listing blocked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Calibri"/>
              </a:defRPr>
            </a:pPr>
            <a:r>
              <a:t>Shootlink •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51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503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Roadmap &amp; Penutup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0312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10312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8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▸  v1.1  Email notifikasi &amp; custom domain</a:t>
            </a:r>
          </a:p>
          <a:p>
            <a:pPr>
              <a:lnSpc>
                <a:spcPts val="2100"/>
              </a:lnSpc>
              <a:spcAft>
                <a:spcPts val="8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▸  v1.2  Before/After slider &amp; AI-assisted culling</a:t>
            </a:r>
          </a:p>
          <a:p>
            <a:pPr>
              <a:lnSpc>
                <a:spcPts val="2100"/>
              </a:lnSpc>
              <a:spcAft>
                <a:spcPts val="8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▸  v2.0  Mobile app &amp; marketplace fotografer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840480"/>
            <a:ext cx="4846320" cy="12700"/>
          </a:xfrm>
          <a:prstGeom prst="rect">
            <a:avLst/>
          </a:prstGeom>
          <a:solidFill>
            <a:srgbClr val="D0A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03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Shootlink bukan cuma galeri foto — ini sistem operasi bisnis fotografi.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4846320"/>
            <a:ext cx="393192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65195E"/>
                </a:solidFill>
                <a:latin typeface="Calibri"/>
              </a:defRPr>
            </a:pPr>
            <a:r>
              <a:t>  Siap Demo Langsung? 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669280"/>
            <a:ext cx="8503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D0A0D0"/>
                </a:solidFill>
                <a:latin typeface="Calibri"/>
              </a:defRPr>
            </a:pPr>
            <a:r>
              <a:t>Terima Kasih • Ada Pertanyaan?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Calibri"/>
              </a:defRPr>
            </a:pPr>
            <a:r>
              <a:t>Shootlink •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